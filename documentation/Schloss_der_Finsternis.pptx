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71" r:id="rId12"/>
    <p:sldId id="267" r:id="rId13"/>
    <p:sldId id="269" r:id="rId14"/>
    <p:sldId id="272" r:id="rId15"/>
    <p:sldId id="273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818181"/>
    <a:srgbClr val="4A4A6A"/>
    <a:srgbClr val="E74C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59"/>
    <p:restoredTop sz="94610"/>
  </p:normalViewPr>
  <p:slideViewPr>
    <p:cSldViewPr snapToGrid="0" snapToObjects="1">
      <p:cViewPr>
        <p:scale>
          <a:sx n="141" d="100"/>
          <a:sy n="141" d="100"/>
        </p:scale>
        <p:origin x="672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327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27ADF-2213-3301-7C31-EA0E9382C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27FDC9-52FD-1289-C105-D1BEB6F6E2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D69C3-0DC3-3434-9768-4FC6B2617D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60C23-F4A3-7671-E09D-AD6EDE20AF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0152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B7F456-22D4-121E-C048-0615B6620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4BCF8-FBC2-811B-72D6-7A2ADD4C6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24AFCC-4883-1D65-8E38-000727DE31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A3872-84BB-D13A-3F5D-00FA33F062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71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38038F-EC87-6CF2-864B-007BD8EA3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C27B90-7D9C-4D56-A9FB-CA62DA8041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863EE3-E521-9449-F32A-303F59AC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32850-6035-B859-02F2-BB11293463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161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EEA60-D068-63DB-0650-69571E919A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980B0A-B309-B986-7EE7-72EDD106B8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C3EAC-4F8F-05E6-14ED-329259B26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C066FF-F3C6-FA41-851A-0F8BDDD04D45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328CBB-8EC8-3BB1-C309-0CBC2DEE1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8B3E44-6994-16DF-AF6B-E2E129935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451D6-BBF1-6B46-B17C-C3165AD96D89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1389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6.png"/><Relationship Id="rId5" Type="http://schemas.openxmlformats.org/officeDocument/2006/relationships/image" Target="../media/image16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B211DAB8-1969-266F-3ABE-C49CF16F3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pic>
        <p:nvPicPr>
          <p:cNvPr id="3" name="Grafik 2" descr="Ein Bild, das Nebel, Text, Baum enthält.&#10;&#10;KI-generierte Inhalte können fehlerhaft sein.">
            <a:extLst>
              <a:ext uri="{FF2B5EF4-FFF2-40B4-BE49-F238E27FC236}">
                <a16:creationId xmlns:a16="http://schemas.microsoft.com/office/drawing/2014/main" id="{F5D20B00-A2DF-F349-85E2-118BFE66EE0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30" b="8116"/>
          <a:stretch>
            <a:fillRect/>
          </a:stretch>
        </p:blipFill>
        <p:spPr>
          <a:xfrm>
            <a:off x="-11954" y="-11008"/>
            <a:ext cx="9184807" cy="516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3728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250AE923-B85E-781A-ABE4-EBF6F52840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31235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PROJEKTIDEE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320040" y="118872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495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457200" y="1234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Interaktives Horror-Escape-Game im Browser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20040" y="192024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495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457200" y="19659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Spieler erkundet ein verlassenes Schloss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20040" y="265176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495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Rätsel lösen &amp; versteckte Hinweise finden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20040" y="338328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495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457200" y="34290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Progressive Schwierigkeit über mehrere Level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20040" y="411480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495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👻  Fokus auf Spannung und dichte Atmosphäre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5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8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059F3955-43B4-6A52-1CE9-BFC111C8F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29616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ZIELE DES PROJEKTS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320040" y="118872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98448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05840" y="12618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HTML, CSS &amp; JavaScript anwenden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320040" y="192024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029968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05840" y="19933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Komplexeres Spiel entwickeln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320040" y="265176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2761488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05840" y="272491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Programmierkenntnisse vertiefen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320040" y="338328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493008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05840" y="34564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Spielzustände &amp; Logik beherrschen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320040" y="4114800"/>
            <a:ext cx="8503920" cy="594360"/>
          </a:xfrm>
          <a:prstGeom prst="roundRect">
            <a:avLst>
              <a:gd name="adj" fmla="val 12308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4224528"/>
            <a:ext cx="365760" cy="36576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05840" y="418795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Spannende Benutzererfahrung schaffen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6" presetClass="entr" presetSubtype="37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EEA33D0F-8A05-EDA2-FCF0-783BD9F15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26997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VERWENDETE TECHNOLOGIEN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2651760" cy="1554480"/>
          </a:xfrm>
          <a:prstGeom prst="roundRect">
            <a:avLst>
              <a:gd name="adj" fmla="val 4706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17320"/>
            <a:ext cx="594360" cy="594360"/>
          </a:xfrm>
          <a:prstGeom prst="rect">
            <a:avLst/>
          </a:prstGeom>
          <a:solidFill>
            <a:schemeClr val="tx1">
              <a:alpha val="0"/>
            </a:schemeClr>
          </a:solidFill>
        </p:spPr>
      </p:pic>
      <p:sp>
        <p:nvSpPr>
          <p:cNvPr id="9" name="Text 6"/>
          <p:cNvSpPr/>
          <p:nvPr/>
        </p:nvSpPr>
        <p:spPr>
          <a:xfrm>
            <a:off x="1234440" y="1417320"/>
            <a:ext cx="155448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7200" y="2194560"/>
            <a:ext cx="237744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&amp; Inhalt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46120" y="1234440"/>
            <a:ext cx="2651760" cy="1554480"/>
          </a:xfrm>
          <a:prstGeom prst="roundRect">
            <a:avLst>
              <a:gd name="adj" fmla="val 4706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1417320"/>
            <a:ext cx="594360" cy="594360"/>
          </a:xfrm>
          <a:prstGeom prst="rect">
            <a:avLst/>
          </a:prstGeom>
          <a:solidFill>
            <a:schemeClr val="tx1">
              <a:alpha val="0"/>
            </a:schemeClr>
          </a:solidFill>
        </p:spPr>
      </p:pic>
      <p:sp>
        <p:nvSpPr>
          <p:cNvPr id="13" name="Text 9"/>
          <p:cNvSpPr/>
          <p:nvPr/>
        </p:nvSpPr>
        <p:spPr>
          <a:xfrm>
            <a:off x="4160520" y="1417320"/>
            <a:ext cx="155448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383280" y="2194560"/>
            <a:ext cx="237744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Animationen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72200" y="1234440"/>
            <a:ext cx="2651760" cy="1554480"/>
          </a:xfrm>
          <a:prstGeom prst="roundRect">
            <a:avLst>
              <a:gd name="adj" fmla="val 4706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417320"/>
            <a:ext cx="594360" cy="594360"/>
          </a:xfrm>
          <a:prstGeom prst="rect">
            <a:avLst/>
          </a:prstGeom>
          <a:solidFill>
            <a:schemeClr val="tx1">
              <a:alpha val="0"/>
            </a:schemeClr>
          </a:solidFill>
        </p:spPr>
      </p:pic>
      <p:sp>
        <p:nvSpPr>
          <p:cNvPr id="17" name="Text 12"/>
          <p:cNvSpPr/>
          <p:nvPr/>
        </p:nvSpPr>
        <p:spPr>
          <a:xfrm>
            <a:off x="7086600" y="1417320"/>
            <a:ext cx="155448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309360" y="2194560"/>
            <a:ext cx="237744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Spiellogik &amp; Interaktion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20040" y="2971800"/>
            <a:ext cx="2651760" cy="1554480"/>
          </a:xfrm>
          <a:prstGeom prst="roundRect">
            <a:avLst>
              <a:gd name="adj" fmla="val 4706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154680"/>
            <a:ext cx="594360" cy="594360"/>
          </a:xfrm>
          <a:prstGeom prst="rect">
            <a:avLst/>
          </a:prstGeom>
          <a:solidFill>
            <a:schemeClr val="tx1">
              <a:alpha val="0"/>
            </a:schemeClr>
          </a:solidFill>
        </p:spPr>
      </p:pic>
      <p:sp>
        <p:nvSpPr>
          <p:cNvPr id="21" name="Text 15"/>
          <p:cNvSpPr/>
          <p:nvPr/>
        </p:nvSpPr>
        <p:spPr>
          <a:xfrm>
            <a:off x="1234440" y="3154680"/>
            <a:ext cx="155448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Audio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457200" y="3931920"/>
            <a:ext cx="237744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Soundeffekte &amp; Atmosphäre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3246120" y="2971800"/>
            <a:ext cx="2651760" cy="1554480"/>
          </a:xfrm>
          <a:prstGeom prst="roundRect">
            <a:avLst>
              <a:gd name="adj" fmla="val 4706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54680"/>
            <a:ext cx="594360" cy="594360"/>
          </a:xfrm>
          <a:prstGeom prst="rect">
            <a:avLst/>
          </a:prstGeom>
          <a:solidFill>
            <a:schemeClr val="tx1">
              <a:alpha val="0"/>
            </a:schemeClr>
          </a:solidFill>
        </p:spPr>
      </p:pic>
      <p:sp>
        <p:nvSpPr>
          <p:cNvPr id="25" name="Text 18"/>
          <p:cNvSpPr/>
          <p:nvPr/>
        </p:nvSpPr>
        <p:spPr>
          <a:xfrm>
            <a:off x="4160520" y="3154680"/>
            <a:ext cx="155448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Storage</a:t>
            </a:r>
            <a:endParaRPr lang="en-US" sz="1800" dirty="0"/>
          </a:p>
        </p:txBody>
      </p:sp>
      <p:sp>
        <p:nvSpPr>
          <p:cNvPr id="26" name="Text 19"/>
          <p:cNvSpPr/>
          <p:nvPr/>
        </p:nvSpPr>
        <p:spPr>
          <a:xfrm>
            <a:off x="3383280" y="3931920"/>
            <a:ext cx="237744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Speichern</a:t>
            </a: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von Scoreboard-</a:t>
            </a:r>
            <a:r>
              <a:rPr lang="en-US" sz="1200" dirty="0" err="1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172200" y="2971800"/>
            <a:ext cx="2651760" cy="1554480"/>
          </a:xfrm>
          <a:prstGeom prst="roundRect">
            <a:avLst>
              <a:gd name="adj" fmla="val 4706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5080" y="3154680"/>
            <a:ext cx="594360" cy="594360"/>
          </a:xfrm>
          <a:prstGeom prst="rect">
            <a:avLst/>
          </a:prstGeom>
          <a:solidFill>
            <a:schemeClr val="tx1">
              <a:alpha val="0"/>
            </a:schemeClr>
          </a:solidFill>
        </p:spPr>
      </p:pic>
      <p:sp>
        <p:nvSpPr>
          <p:cNvPr id="29" name="Text 21"/>
          <p:cNvSpPr/>
          <p:nvPr/>
        </p:nvSpPr>
        <p:spPr>
          <a:xfrm>
            <a:off x="7086600" y="3154680"/>
            <a:ext cx="155448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Typed.js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6309360" y="3931920"/>
            <a:ext cx="2377440" cy="457200"/>
          </a:xfrm>
          <a:prstGeom prst="rect">
            <a:avLst/>
          </a:prstGeom>
          <a:solidFill>
            <a:schemeClr val="tx1">
              <a:alpha val="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JS-Library für </a:t>
            </a:r>
            <a:r>
              <a:rPr lang="en-US" sz="1200" dirty="0" err="1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Textanimationen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7" presetClass="emph" presetSubtype="2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7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stroke.on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38E18366-938B-5EDF-47F0-53D8F901E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320444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1: DAS ARBEITSZIMMER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4114800" cy="3657600"/>
          </a:xfrm>
          <a:prstGeom prst="roundRect">
            <a:avLst>
              <a:gd name="adj" fmla="val 2000"/>
            </a:avLst>
          </a:prstGeom>
          <a:solidFill>
            <a:schemeClr val="tx1">
              <a:alpha val="49692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F0F0F0"/>
                </a:solidFill>
                <a:latin typeface="Cambria" pitchFamily="34" charset="0"/>
              </a:rPr>
              <a:t>Handlung</a:t>
            </a:r>
            <a:endParaRPr lang="en-US" b="1" dirty="0">
              <a:solidFill>
                <a:srgbClr val="F0F0F0"/>
              </a:solidFill>
              <a:latin typeface="Cambria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Spieler betritt das Schloss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Erkundung der ersten Räume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Hebelmechanismus aktivieren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Versteckte Tür aufdecken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Geheimen Ausgang finden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160520" cy="3657600"/>
          </a:xfrm>
          <a:prstGeom prst="roundRect">
            <a:avLst>
              <a:gd name="adj" fmla="val 2000"/>
            </a:avLst>
          </a:prstGeom>
          <a:solidFill>
            <a:schemeClr val="tx1">
              <a:alpha val="49692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 err="1">
                <a:solidFill>
                  <a:srgbClr val="F0F0F0"/>
                </a:solidFill>
                <a:latin typeface="Cambria" pitchFamily="34" charset="0"/>
              </a:rPr>
              <a:t>Programmierkonzepte</a:t>
            </a:r>
            <a:endParaRPr lang="en-US" b="1" dirty="0">
              <a:solidFill>
                <a:srgbClr val="F0F0F0"/>
              </a:solidFill>
              <a:latin typeface="Cambria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00600" y="1691640"/>
            <a:ext cx="3840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Zustandsverwaltung (booleans)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Unsichtbare Clickboxen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Raumwechsel-Funktionen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Interaktive Objekte (onclick)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C558C383-3A1D-81F3-7FFD-2B2C45E0C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1828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2: DIE GEMÄCHER DES GRAFEN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920240" cy="502920"/>
          </a:xfrm>
          <a:prstGeom prst="roundRect">
            <a:avLst>
              <a:gd name="adj" fmla="val 1090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2004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Bibliothek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68880" y="1188720"/>
            <a:ext cx="1920240" cy="502920"/>
          </a:xfrm>
          <a:prstGeom prst="roundRect">
            <a:avLst>
              <a:gd name="adj" fmla="val 1090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246888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Uhrzimmer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188720"/>
            <a:ext cx="1920240" cy="502920"/>
          </a:xfrm>
          <a:prstGeom prst="roundRect">
            <a:avLst>
              <a:gd name="adj" fmla="val 1090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461772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Schlafzimmer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1188720"/>
            <a:ext cx="1920240" cy="502920"/>
          </a:xfrm>
          <a:prstGeom prst="roundRect">
            <a:avLst>
              <a:gd name="adj" fmla="val 1090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6766560" y="11887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Geheimgang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1920240"/>
            <a:ext cx="5029200" cy="2971800"/>
          </a:xfrm>
          <a:prstGeom prst="roundRect">
            <a:avLst>
              <a:gd name="adj" fmla="val 2462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45720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Rätselablauf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246888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Zahlen in verschiedenen Räumen suchen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Richtige Reihenfolge erkennen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Vierstelligen Code eingeben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3657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Spannung durch: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Zeitlimit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 Entscheidungen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Begegnung mit dem Grafen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577840" y="1920240"/>
            <a:ext cx="3246120" cy="2971800"/>
          </a:xfrm>
          <a:prstGeom prst="roundRect">
            <a:avLst>
              <a:gd name="adj" fmla="val 2462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715000" y="20116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Codeeingabe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893024" y="2537460"/>
            <a:ext cx="548640" cy="640080"/>
          </a:xfrm>
          <a:prstGeom prst="roundRect">
            <a:avLst>
              <a:gd name="adj" fmla="val 8333"/>
            </a:avLst>
          </a:prstGeom>
          <a:solidFill>
            <a:srgbClr val="0A0A14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5893024" y="25374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578824" y="2537460"/>
            <a:ext cx="548640" cy="640080"/>
          </a:xfrm>
          <a:prstGeom prst="roundRect">
            <a:avLst>
              <a:gd name="adj" fmla="val 8333"/>
            </a:avLst>
          </a:prstGeom>
          <a:solidFill>
            <a:srgbClr val="0A0A14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6578824" y="25374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7264624" y="2537460"/>
            <a:ext cx="548640" cy="640080"/>
          </a:xfrm>
          <a:prstGeom prst="roundRect">
            <a:avLst>
              <a:gd name="adj" fmla="val 8333"/>
            </a:avLst>
          </a:prstGeom>
          <a:solidFill>
            <a:srgbClr val="0A0A14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7" name="Text 25"/>
          <p:cNvSpPr/>
          <p:nvPr/>
        </p:nvSpPr>
        <p:spPr>
          <a:xfrm>
            <a:off x="7264624" y="25374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7950424" y="2537460"/>
            <a:ext cx="548640" cy="640080"/>
          </a:xfrm>
          <a:prstGeom prst="roundRect">
            <a:avLst>
              <a:gd name="adj" fmla="val 8333"/>
            </a:avLst>
          </a:prstGeom>
          <a:solidFill>
            <a:srgbClr val="0A0A14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9" name="Text 27"/>
          <p:cNvSpPr/>
          <p:nvPr/>
        </p:nvSpPr>
        <p:spPr>
          <a:xfrm>
            <a:off x="7950424" y="25374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74C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2400" dirty="0"/>
          </a:p>
        </p:txBody>
      </p:sp>
      <p:pic>
        <p:nvPicPr>
          <p:cNvPr id="30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2260" y="3518012"/>
            <a:ext cx="1097280" cy="1097280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5669280" y="32339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ZEITLIMIT AKTIV</a:t>
            </a:r>
            <a:endParaRPr lang="en-US" sz="1400" dirty="0"/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96ABC027-117F-0E26-2262-EABAC31A2726}"/>
              </a:ext>
            </a:extLst>
          </p:cNvPr>
          <p:cNvSpPr/>
          <p:nvPr/>
        </p:nvSpPr>
        <p:spPr>
          <a:xfrm>
            <a:off x="5669280" y="45523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74C3C"/>
                </a:solidFill>
                <a:latin typeface="Calibri" pitchFamily="34" charset="0"/>
                <a:cs typeface="Calibri" pitchFamily="34" charset="-120"/>
              </a:rPr>
              <a:t>90 </a:t>
            </a:r>
            <a:r>
              <a:rPr lang="en-US" sz="1400" b="1" dirty="0" err="1">
                <a:solidFill>
                  <a:srgbClr val="E74C3C"/>
                </a:solidFill>
                <a:latin typeface="Calibri" pitchFamily="34" charset="0"/>
                <a:cs typeface="Calibri" pitchFamily="34" charset="-120"/>
              </a:rPr>
              <a:t>Sekunden</a:t>
            </a:r>
            <a:endParaRPr lang="en-US" sz="1400" b="1" dirty="0">
              <a:solidFill>
                <a:srgbClr val="E74C3C"/>
              </a:solidFill>
              <a:latin typeface="Calibri" pitchFamily="34" charset="0"/>
              <a:cs typeface="Calibri" pitchFamily="34" charset="-12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ECE8EDE2-0FE6-4D5D-1A82-E4A32DC91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288076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3: DIE ZEITREISE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2583180" y="1129284"/>
            <a:ext cx="4160520" cy="1280160"/>
          </a:xfrm>
          <a:prstGeom prst="roundRect">
            <a:avLst>
              <a:gd name="adj" fmla="val 5714"/>
            </a:avLst>
          </a:prstGeom>
          <a:solidFill>
            <a:schemeClr val="tx1">
              <a:alpha val="4976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2720340" y="1312164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⏰  Zeitreise-Mechanik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20340" y="1723644"/>
            <a:ext cx="3886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Boolean-Variable wechselt zwischen Gegenwart und Zukunft.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Dieselben Räume erscheinen in zwei Versionen.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2651760"/>
            <a:ext cx="4114800" cy="36576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8B75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GEGENWART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" y="3108960"/>
            <a:ext cx="3566160" cy="475488"/>
          </a:xfrm>
          <a:prstGeom prst="roundRect">
            <a:avLst>
              <a:gd name="adj" fmla="val 11538"/>
            </a:avLst>
          </a:prstGeom>
          <a:solidFill>
            <a:schemeClr val="tx1">
              <a:alpha val="49760"/>
            </a:schemeClr>
          </a:solidFill>
          <a:ln w="12700">
            <a:solidFill>
              <a:srgbClr val="8B7536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Eingangshalle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" y="3703320"/>
            <a:ext cx="3566160" cy="475488"/>
          </a:xfrm>
          <a:prstGeom prst="roundRect">
            <a:avLst>
              <a:gd name="adj" fmla="val 11538"/>
            </a:avLst>
          </a:prstGeom>
          <a:solidFill>
            <a:schemeClr val="tx1">
              <a:alpha val="49760"/>
            </a:schemeClr>
          </a:solidFill>
          <a:ln w="12700">
            <a:solidFill>
              <a:srgbClr val="8B7536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594360" y="370332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4297680"/>
            <a:ext cx="3566160" cy="475488"/>
          </a:xfrm>
          <a:prstGeom prst="roundRect">
            <a:avLst>
              <a:gd name="adj" fmla="val 11538"/>
            </a:avLst>
          </a:prstGeom>
          <a:solidFill>
            <a:schemeClr val="tx1">
              <a:alpha val="49760"/>
            </a:schemeClr>
          </a:solidFill>
          <a:ln w="12700">
            <a:solidFill>
              <a:srgbClr val="8B7536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594360" y="42976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Kapelle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54880" y="2651760"/>
            <a:ext cx="4114800" cy="365760"/>
          </a:xfrm>
          <a:prstGeom prst="rect">
            <a:avLst/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ZUKUNFT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0" y="3108960"/>
            <a:ext cx="3566160" cy="475488"/>
          </a:xfrm>
          <a:prstGeom prst="roundRect">
            <a:avLst>
              <a:gd name="adj" fmla="val 11538"/>
            </a:avLst>
          </a:prstGeom>
          <a:solidFill>
            <a:schemeClr val="tx1">
              <a:alpha val="49760"/>
            </a:schemeClr>
          </a:solidFill>
          <a:ln w="12700">
            <a:solidFill>
              <a:srgbClr val="E74C3C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5029200" y="310896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Uhrraum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3703320"/>
            <a:ext cx="3566160" cy="475488"/>
          </a:xfrm>
          <a:prstGeom prst="roundRect">
            <a:avLst>
              <a:gd name="adj" fmla="val 11538"/>
            </a:avLst>
          </a:prstGeom>
          <a:solidFill>
            <a:schemeClr val="tx1">
              <a:alpha val="49760"/>
            </a:schemeClr>
          </a:solidFill>
          <a:ln w="12700">
            <a:solidFill>
              <a:srgbClr val="E74C3C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5029200" y="370332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Thronsaal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4297680"/>
            <a:ext cx="3566160" cy="475488"/>
          </a:xfrm>
          <a:prstGeom prst="roundRect">
            <a:avLst>
              <a:gd name="adj" fmla="val 11538"/>
            </a:avLst>
          </a:prstGeom>
          <a:solidFill>
            <a:schemeClr val="tx1">
              <a:alpha val="49760"/>
            </a:schemeClr>
          </a:solidFill>
          <a:ln w="12700">
            <a:solidFill>
              <a:srgbClr val="E74C3C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Text 21"/>
          <p:cNvSpPr/>
          <p:nvPr/>
        </p:nvSpPr>
        <p:spPr>
          <a:xfrm>
            <a:off x="5029200" y="42976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Katakomben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480560" y="3200400"/>
            <a:ext cx="182880" cy="0"/>
          </a:xfrm>
          <a:prstGeom prst="line">
            <a:avLst/>
          </a:prstGeom>
          <a:noFill/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4160520" y="35661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74C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⟷</a:t>
            </a: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CBAFBB85-34F3-1B4B-B477-C0EF85BB8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31235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PROGRAMMIERLOGIK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320040" y="1267101"/>
            <a:ext cx="4114800" cy="1051560"/>
          </a:xfrm>
          <a:prstGeom prst="roundRect">
            <a:avLst>
              <a:gd name="adj" fmla="val 6957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457200" y="1358541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Raumverwaltung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457200" y="1724301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Objekte beschreiben jeden Raum (Bild, Clickboxen, Zustand)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20040" y="2501541"/>
            <a:ext cx="4114800" cy="1051560"/>
          </a:xfrm>
          <a:prstGeom prst="roundRect">
            <a:avLst>
              <a:gd name="adj" fmla="val 6957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Text 9"/>
          <p:cNvSpPr/>
          <p:nvPr/>
        </p:nvSpPr>
        <p:spPr>
          <a:xfrm>
            <a:off x="457200" y="2592981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chemeClr val="bg1"/>
                </a:solidFill>
                <a:latin typeface="Cambria" pitchFamily="34" charset="0"/>
              </a:rPr>
              <a:t>Zustandsvariablen</a:t>
            </a:r>
            <a:endParaRPr lang="en-US" sz="1400" b="1" dirty="0">
              <a:solidFill>
                <a:schemeClr val="bg1"/>
              </a:solidFill>
              <a:latin typeface="Cambria" pitchFamily="34" charset="0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57200" y="2958741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Booleans &amp; Zahlen speichern Spielfortschritt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0040" y="3735981"/>
            <a:ext cx="4114800" cy="1051560"/>
          </a:xfrm>
          <a:prstGeom prst="roundRect">
            <a:avLst>
              <a:gd name="adj" fmla="val 6957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457200" y="3827421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mbria" pitchFamily="34" charset="0"/>
              </a:rPr>
              <a:t>Dynamische</a:t>
            </a:r>
            <a:r>
              <a:rPr lang="en-US" sz="1400" b="1" dirty="0">
                <a:solidFill>
                  <a:schemeClr val="bg1"/>
                </a:solidFill>
                <a:latin typeface="Cambria" pitchFamily="34" charset="0"/>
              </a:rPr>
              <a:t> </a:t>
            </a:r>
            <a:r>
              <a:rPr lang="en-US" sz="1400" b="1" dirty="0" err="1">
                <a:solidFill>
                  <a:schemeClr val="bg1"/>
                </a:solidFill>
                <a:latin typeface="Cambria" pitchFamily="34" charset="0"/>
              </a:rPr>
              <a:t>Hintergrundbilder</a:t>
            </a:r>
            <a:endParaRPr lang="en-US" sz="1400" b="1" dirty="0">
              <a:solidFill>
                <a:schemeClr val="bg1"/>
              </a:solidFill>
              <a:latin typeface="Cambria" pitchFamily="34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57200" y="4193181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Raum-ID → CSS background-image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663440" y="1267101"/>
            <a:ext cx="4160520" cy="1051560"/>
          </a:xfrm>
          <a:prstGeom prst="roundRect">
            <a:avLst>
              <a:gd name="adj" fmla="val 6957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4800600" y="1358541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chemeClr val="bg1"/>
                </a:solidFill>
                <a:latin typeface="Cambria" pitchFamily="34" charset="0"/>
              </a:rPr>
              <a:t>Clickboxen</a:t>
            </a:r>
            <a:endParaRPr lang="en-US" sz="1400" b="1" dirty="0">
              <a:solidFill>
                <a:schemeClr val="bg1"/>
              </a:solidFill>
              <a:latin typeface="Cambria" pitchFamily="34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800600" y="1724301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Absolute-positionierte &lt;div&gt; über dem Raumbild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663440" y="2501541"/>
            <a:ext cx="4160520" cy="1051560"/>
          </a:xfrm>
          <a:prstGeom prst="roundRect">
            <a:avLst>
              <a:gd name="adj" fmla="val 6957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4800600" y="2592981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>
              <a:buNone/>
            </a:pPr>
            <a:r>
              <a:rPr lang="en-US" sz="1400" b="1" dirty="0" err="1">
                <a:solidFill>
                  <a:schemeClr val="bg1"/>
                </a:solidFill>
                <a:latin typeface="Cambria" pitchFamily="34" charset="0"/>
              </a:rPr>
              <a:t>Codeprüfungen</a:t>
            </a:r>
            <a:endParaRPr lang="en-US" sz="1400" b="1" dirty="0">
              <a:solidFill>
                <a:schemeClr val="bg1"/>
              </a:solidFill>
              <a:latin typeface="Cambria" pitchFamily="34" charset="0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4800600" y="2958741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Input-Wert wird mit Lösung verglichen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663440" y="3735981"/>
            <a:ext cx="4160520" cy="1051560"/>
          </a:xfrm>
          <a:prstGeom prst="roundRect">
            <a:avLst>
              <a:gd name="adj" fmla="val 6957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4800600" y="3827421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 err="1">
                <a:solidFill>
                  <a:schemeClr val="bg1"/>
                </a:solidFill>
                <a:latin typeface="Cambria" pitchFamily="34" charset="0"/>
              </a:rPr>
              <a:t>Zeitreise</a:t>
            </a:r>
            <a:r>
              <a:rPr lang="en-US" sz="1400" b="1" dirty="0">
                <a:solidFill>
                  <a:schemeClr val="bg1"/>
                </a:solidFill>
                <a:latin typeface="Cambria" pitchFamily="34" charset="0"/>
              </a:rPr>
              <a:t>-System</a:t>
            </a:r>
          </a:p>
        </p:txBody>
      </p:sp>
      <p:sp>
        <p:nvSpPr>
          <p:cNvPr id="25" name="Text 22"/>
          <p:cNvSpPr/>
          <p:nvPr/>
        </p:nvSpPr>
        <p:spPr>
          <a:xfrm>
            <a:off x="4800600" y="4193181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0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 isPast schaltet alle Räume um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EB242C2C-DE02-51AE-E5E8-C077B8031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328536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HERAUSFORDERUNGEN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320040" y="1188720"/>
            <a:ext cx="4114800" cy="1005840"/>
          </a:xfrm>
          <a:prstGeom prst="roundRect">
            <a:avLst>
              <a:gd name="adj" fmla="val 7273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457200" y="1188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🗂  Verwaltung vieler Räume &amp; Zustände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4114800" cy="1005840"/>
          </a:xfrm>
          <a:prstGeom prst="roundRect">
            <a:avLst>
              <a:gd name="adj" fmla="val 7273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4892040" y="11887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 Übersichtliche Programmstruktur halten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20040" y="2377440"/>
            <a:ext cx="4114800" cy="1005840"/>
          </a:xfrm>
          <a:prstGeom prst="roundRect">
            <a:avLst>
              <a:gd name="adj" fmla="val 7273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457200" y="2377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 Logische &amp; lösbare Rätsel entwickeln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754880" y="2377440"/>
            <a:ext cx="4114800" cy="1005840"/>
          </a:xfrm>
          <a:prstGeom prst="roundRect">
            <a:avLst>
              <a:gd name="adj" fmla="val 7273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4892040" y="237744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 Debugging komplexer Spielzustände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20040" y="3566160"/>
            <a:ext cx="4114800" cy="1005840"/>
          </a:xfrm>
          <a:prstGeom prst="roundRect">
            <a:avLst>
              <a:gd name="adj" fmla="val 7273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457200" y="35661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🖼  Synchronisation von Bildern &amp; Logik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754880" y="3566160"/>
            <a:ext cx="4114800" cy="1005840"/>
          </a:xfrm>
          <a:prstGeom prst="roundRect">
            <a:avLst>
              <a:gd name="adj" fmla="val 7273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6"/>
          <p:cNvSpPr/>
          <p:nvPr/>
        </p:nvSpPr>
        <p:spPr>
          <a:xfrm>
            <a:off x="4892040" y="35661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Spannende Spielmechaniken umsetzen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6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1EDB7C0A-41E0-8351-26E0-0B0EF640F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27341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BESONDERE FEATURES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137160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20040" y="2103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Jumpscares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514600" y="11887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137160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14600" y="2103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Zeitreise-System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09160" y="11887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1371600"/>
            <a:ext cx="640080" cy="6400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09160" y="2103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Unsichtbare Clickboxen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903720" y="11887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0" y="137160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03720" y="2103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Soundeffekte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320040" y="30175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120" y="3200400"/>
            <a:ext cx="640080" cy="64008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20040" y="3931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als Gegner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2514600" y="30175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54680" y="3200400"/>
            <a:ext cx="640080" cy="64008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514600" y="3931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Mehrere Level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4709160" y="30175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9240" y="320040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4709160" y="3931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 Hinweise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6903720" y="3017520"/>
            <a:ext cx="1920240" cy="1645920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3200400"/>
            <a:ext cx="640080" cy="64008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903720" y="39319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Verschiedene Endsequenzen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1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  <p:bldP spid="3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410839-026C-B833-747C-3F7842638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8C410AC1-425D-A4DA-EF08-99A0944748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A4ED386D-8093-9E58-4696-3AE5AEE9A701}"/>
              </a:ext>
            </a:extLst>
          </p:cNvPr>
          <p:cNvSpPr/>
          <p:nvPr/>
        </p:nvSpPr>
        <p:spPr>
          <a:xfrm>
            <a:off x="320040" y="327728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Interessante</a:t>
            </a: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Code-</a:t>
            </a:r>
            <a:r>
              <a:rPr lang="en-US" sz="3000" b="1" kern="0" spc="200" dirty="0" err="1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Fragmente</a:t>
            </a:r>
            <a:endParaRPr lang="en-US" sz="3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999C27D-CACE-D664-316C-D00AC65EE922}"/>
              </a:ext>
            </a:extLst>
          </p:cNvPr>
          <p:cNvSpPr/>
          <p:nvPr/>
        </p:nvSpPr>
        <p:spPr>
          <a:xfrm>
            <a:off x="4720042" y="2011680"/>
            <a:ext cx="4286807" cy="1718348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713011BA-85C1-22BF-B79F-19F0BF710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3345" y="2103120"/>
            <a:ext cx="4140200" cy="1511300"/>
          </a:xfrm>
          <a:prstGeom prst="rect">
            <a:avLst/>
          </a:prstGeom>
        </p:spPr>
      </p:pic>
      <p:sp>
        <p:nvSpPr>
          <p:cNvPr id="3" name="Shape 5">
            <a:extLst>
              <a:ext uri="{FF2B5EF4-FFF2-40B4-BE49-F238E27FC236}">
                <a16:creationId xmlns:a16="http://schemas.microsoft.com/office/drawing/2014/main" id="{505101EF-1D4C-7945-B7D9-9DB05FF5DCFD}"/>
              </a:ext>
            </a:extLst>
          </p:cNvPr>
          <p:cNvSpPr/>
          <p:nvPr/>
        </p:nvSpPr>
        <p:spPr>
          <a:xfrm>
            <a:off x="174290" y="1430447"/>
            <a:ext cx="4371463" cy="2917135"/>
          </a:xfrm>
          <a:prstGeom prst="roundRect">
            <a:avLst>
              <a:gd name="adj" fmla="val 4444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640E845-1C0A-2A2D-5ADC-19C2D32AFE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620" y="1510564"/>
            <a:ext cx="4196475" cy="2748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1674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4F88BAD1-D6B8-5A31-39EA-512780984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320040" y="30426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200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ICH GELERNT HABE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320040" y="1188720"/>
            <a:ext cx="4160520" cy="777240"/>
          </a:xfrm>
          <a:prstGeom prst="roundRect">
            <a:avLst>
              <a:gd name="adj" fmla="val 705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6"/>
          <p:cNvSpPr/>
          <p:nvPr/>
        </p:nvSpPr>
        <p:spPr>
          <a:xfrm>
            <a:off x="429768" y="1344168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42976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05840" y="11887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vertieft – Funktionen, Objekte, Arrays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20040" y="2148840"/>
            <a:ext cx="4160520" cy="777240"/>
          </a:xfrm>
          <a:prstGeom prst="roundRect">
            <a:avLst>
              <a:gd name="adj" fmla="val 705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429768" y="2304288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429768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5840" y="2148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DOM-Manipulation &amp; dynamisches Rendering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20040" y="3108960"/>
            <a:ext cx="4160520" cy="777240"/>
          </a:xfrm>
          <a:prstGeom prst="roundRect">
            <a:avLst>
              <a:gd name="adj" fmla="val 705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4"/>
          <p:cNvSpPr/>
          <p:nvPr/>
        </p:nvSpPr>
        <p:spPr>
          <a:xfrm>
            <a:off x="429768" y="3264408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429768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00584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Zustandsmaschinen für Spiellogik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62000"/>
            <a:ext cx="4160520" cy="777240"/>
          </a:xfrm>
          <a:prstGeom prst="roundRect">
            <a:avLst>
              <a:gd name="adj" fmla="val 705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Shape 18"/>
          <p:cNvSpPr/>
          <p:nvPr/>
        </p:nvSpPr>
        <p:spPr>
          <a:xfrm>
            <a:off x="429768" y="4224528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19"/>
          <p:cNvSpPr/>
          <p:nvPr/>
        </p:nvSpPr>
        <p:spPr>
          <a:xfrm>
            <a:off x="429768" y="4224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05840" y="406908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Event-Handling &amp; Benutzerinteraktion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754880" y="1188720"/>
            <a:ext cx="4160520" cy="777240"/>
          </a:xfrm>
          <a:prstGeom prst="roundRect">
            <a:avLst>
              <a:gd name="adj" fmla="val 705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2"/>
          <p:cNvSpPr/>
          <p:nvPr/>
        </p:nvSpPr>
        <p:spPr>
          <a:xfrm>
            <a:off x="4864608" y="1344168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3"/>
          <p:cNvSpPr/>
          <p:nvPr/>
        </p:nvSpPr>
        <p:spPr>
          <a:xfrm>
            <a:off x="4864608" y="1344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40680" y="11887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Projektplanung &amp; Strukturierung größerer Programme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754880" y="2148840"/>
            <a:ext cx="4160520" cy="777240"/>
          </a:xfrm>
          <a:prstGeom prst="roundRect">
            <a:avLst>
              <a:gd name="adj" fmla="val 705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9" name="Shape 26"/>
          <p:cNvSpPr/>
          <p:nvPr/>
        </p:nvSpPr>
        <p:spPr>
          <a:xfrm>
            <a:off x="4864608" y="2304288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7"/>
          <p:cNvSpPr/>
          <p:nvPr/>
        </p:nvSpPr>
        <p:spPr>
          <a:xfrm>
            <a:off x="4864608" y="2304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440680" y="2148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Systematisches Debugging &amp; Fehlerfindung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754880" y="3108960"/>
            <a:ext cx="4160520" cy="777240"/>
          </a:xfrm>
          <a:prstGeom prst="roundRect">
            <a:avLst>
              <a:gd name="adj" fmla="val 7059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3" name="Shape 30"/>
          <p:cNvSpPr/>
          <p:nvPr/>
        </p:nvSpPr>
        <p:spPr>
          <a:xfrm>
            <a:off x="4864608" y="3264408"/>
            <a:ext cx="457200" cy="45720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1"/>
          <p:cNvSpPr/>
          <p:nvPr/>
        </p:nvSpPr>
        <p:spPr>
          <a:xfrm>
            <a:off x="4864608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F0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440680" y="31089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Kreative Problemlösung bei der Rätselentwicklung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4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2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2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2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2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2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2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2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2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4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2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2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5" dur="2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2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2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2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5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2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2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4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2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2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0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5" dur="2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2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2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2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9" dur="2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0" dur="2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4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2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2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5" dur="2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2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8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2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2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9" dur="2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0" dur="2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4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2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2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0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5" dur="2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6" dur="2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8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9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2" dur="2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2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6" presetID="43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9" dur="2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0" dur="2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3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1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1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2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2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3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3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4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4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50000">
                                          <p:val>
                                            <p:strVal val="#ppt_x+0.1550"/>
                                          </p:val>
                                        </p:tav>
                                        <p:tav tm="55000">
                                          <p:val>
                                            <p:strVal val="#ppt_x+0.1531"/>
                                          </p:val>
                                        </p:tav>
                                        <p:tav tm="60000">
                                          <p:val>
                                            <p:strVal val="#ppt_x+0.1474"/>
                                          </p:val>
                                        </p:tav>
                                        <p:tav tm="65000">
                                          <p:val>
                                            <p:strVal val="#ppt_x+0.1381"/>
                                          </p:val>
                                        </p:tav>
                                        <p:tav tm="70000">
                                          <p:val>
                                            <p:strVal val="#ppt_x+0.1254"/>
                                          </p:val>
                                        </p:tav>
                                        <p:tav tm="75000">
                                          <p:val>
                                            <p:strVal val="#ppt_x+0.1096"/>
                                          </p:val>
                                        </p:tav>
                                        <p:tav tm="80000">
                                          <p:val>
                                            <p:strVal val="#ppt_x+0.0911"/>
                                          </p:val>
                                        </p:tav>
                                        <p:tav tm="85000">
                                          <p:val>
                                            <p:strVal val="#ppt_x+0.0704"/>
                                          </p:val>
                                        </p:tav>
                                        <p:tav tm="90000">
                                          <p:val>
                                            <p:strVal val="#ppt_x+0.0479"/>
                                          </p:val>
                                        </p:tav>
                                        <p:tav tm="95000">
                                          <p:val>
                                            <p:strVal val="#ppt_x+0.024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2" dur="300" de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31"/>
                                          </p:val>
                                        </p:tav>
                                        <p:tav tm="5000">
                                          <p:val>
                                            <p:strVal val="#ppt_y+0.308"/>
                                          </p:val>
                                        </p:tav>
                                        <p:tav tm="10000">
                                          <p:val>
                                            <p:strVal val="#ppt_y+0.3024"/>
                                          </p:val>
                                        </p:tav>
                                        <p:tav tm="15000">
                                          <p:val>
                                            <p:strVal val="#ppt_y+0.2931"/>
                                          </p:val>
                                        </p:tav>
                                        <p:tav tm="20000">
                                          <p:val>
                                            <p:strVal val="#ppt_y+0.2804"/>
                                          </p:val>
                                        </p:tav>
                                        <p:tav tm="25000">
                                          <p:val>
                                            <p:strVal val="#ppt_y+0.2646"/>
                                          </p:val>
                                        </p:tav>
                                        <p:tav tm="30000">
                                          <p:val>
                                            <p:strVal val="#ppt_y+0.2461"/>
                                          </p:val>
                                        </p:tav>
                                        <p:tav tm="35000">
                                          <p:val>
                                            <p:strVal val="#ppt_y+0.2253"/>
                                          </p:val>
                                        </p:tav>
                                        <p:tav tm="40000">
                                          <p:val>
                                            <p:strVal val="#ppt_y+0.2029"/>
                                          </p:val>
                                        </p:tav>
                                        <p:tav tm="45000">
                                          <p:val>
                                            <p:strVal val="#ppt_y+0.1792"/>
                                          </p:val>
                                        </p:tav>
                                        <p:tav tm="50000">
                                          <p:val>
                                            <p:strVal val="#ppt_y+0.155"/>
                                          </p:val>
                                        </p:tav>
                                        <p:tav tm="55000">
                                          <p:val>
                                            <p:strVal val="#ppt_y+0.1307"/>
                                          </p:val>
                                        </p:tav>
                                        <p:tav tm="60000">
                                          <p:val>
                                            <p:strVal val="#ppt_y+0.1071"/>
                                          </p:val>
                                        </p:tav>
                                        <p:tav tm="65000">
                                          <p:val>
                                            <p:strVal val="#ppt_y+0.0846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639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454"/>
                                          </p:val>
                                        </p:tav>
                                        <p:tav tm="80000">
                                          <p:val>
                                            <p:strVal val="#ppt_y+0.0296"/>
                                          </p:val>
                                        </p:tav>
                                        <p:tav tm="85000">
                                          <p:val>
                                            <p:strVal val="#ppt_y+0.0169"/>
                                          </p:val>
                                        </p:tav>
                                        <p:tav tm="90000">
                                          <p:val>
                                            <p:strVal val="#ppt_y+0.0076"/>
                                          </p:val>
                                        </p:tav>
                                        <p:tav tm="95000">
                                          <p:val>
                                            <p:strVal val="#ppt_y+0.0019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307D5EED-EFFD-84CA-0D67-24F3FBF47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914400" y="3200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kern="0" spc="1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</a:t>
            </a:r>
            <a:endParaRPr lang="en-US" sz="36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640080" y="1143000"/>
            <a:ext cx="7863840" cy="731520"/>
          </a:xfrm>
          <a:prstGeom prst="roundRect">
            <a:avLst>
              <a:gd name="adj" fmla="val 10000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822960" y="11430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Erfolgreiche Entwicklung eines eigenen Horror-Escape-Games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039112"/>
            <a:ext cx="7863840" cy="731520"/>
          </a:xfrm>
          <a:prstGeom prst="roundRect">
            <a:avLst>
              <a:gd name="adj" fmla="val 10000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822960" y="2039112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 Verbindung von Kreativität und Programmierung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935224"/>
            <a:ext cx="7863840" cy="731520"/>
          </a:xfrm>
          <a:prstGeom prst="roundRect">
            <a:avLst>
              <a:gd name="adj" fmla="val 10000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822960" y="2935224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 Praktische Anwendung von HTML, CSS &amp; JavaScript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831336"/>
            <a:ext cx="7863840" cy="731520"/>
          </a:xfrm>
          <a:prstGeom prst="roundRect">
            <a:avLst>
              <a:gd name="adj" fmla="val 10000"/>
            </a:avLst>
          </a:prstGeom>
          <a:solidFill>
            <a:schemeClr val="tx1">
              <a:alpha val="50000"/>
            </a:schemeClr>
          </a:solidFill>
          <a:ln w="6350">
            <a:solidFill>
              <a:srgbClr val="4A4A6A"/>
            </a:solidFill>
            <a:prstDash val="solid"/>
          </a:ln>
          <a:effectLst>
            <a:outerShdw blurRad="127000" dist="38100" dir="27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822960" y="3831336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Solide Grundlage für </a:t>
            </a:r>
            <a:r>
              <a:rPr lang="en-US" sz="1600" dirty="0" err="1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zukünftige</a:t>
            </a:r>
            <a:r>
              <a:rPr lang="en-US" sz="1600" dirty="0">
                <a:solidFill>
                  <a:srgbClr val="DAD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Projekte</a:t>
            </a:r>
            <a:endParaRPr lang="en-US" sz="1600" dirty="0"/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DECE5A9D-627B-F658-056E-57E72C367EB4}"/>
              </a:ext>
            </a:extLst>
          </p:cNvPr>
          <p:cNvSpPr/>
          <p:nvPr/>
        </p:nvSpPr>
        <p:spPr>
          <a:xfrm>
            <a:off x="914400" y="523030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1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Demo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CD4EF-ACC1-17A7-753B-F9B826FE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EEA56D78-0686-0C39-FCBB-ACBF9C251E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022"/>
            <a:ext cx="9144000" cy="6096000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A048D539-79A7-1F40-B63C-A6115318797D}"/>
              </a:ext>
            </a:extLst>
          </p:cNvPr>
          <p:cNvSpPr/>
          <p:nvPr/>
        </p:nvSpPr>
        <p:spPr>
          <a:xfrm>
            <a:off x="914400" y="225171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1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Demo</a:t>
            </a:r>
            <a:endParaRPr 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10838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08313-45BE-9AB1-0BBB-A1FBEE87E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nhaltsplatzhalter 4" descr="Ein Bild, das Himmel, Nebel, Mond, draußen enthält.&#10;&#10;KI-generierte Inhalte können fehlerhaft sein.">
            <a:extLst>
              <a:ext uri="{FF2B5EF4-FFF2-40B4-BE49-F238E27FC236}">
                <a16:creationId xmlns:a16="http://schemas.microsoft.com/office/drawing/2014/main" id="{B77F3BEB-4BB6-147A-FFEA-1314FE887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053" y="-50287"/>
            <a:ext cx="9243588" cy="6096000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00ECF3DF-0190-4B22-D64E-6C29EA131303}"/>
              </a:ext>
            </a:extLst>
          </p:cNvPr>
          <p:cNvSpPr/>
          <p:nvPr/>
        </p:nvSpPr>
        <p:spPr>
          <a:xfrm>
            <a:off x="914400" y="-654453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1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Demo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6EBE21F2-ACDF-42E9-2D17-97D56C3BE259}"/>
              </a:ext>
            </a:extLst>
          </p:cNvPr>
          <p:cNvSpPr/>
          <p:nvPr/>
        </p:nvSpPr>
        <p:spPr>
          <a:xfrm>
            <a:off x="-181070" y="-334413"/>
            <a:ext cx="9560459" cy="6380126"/>
          </a:xfrm>
          <a:prstGeom prst="rect">
            <a:avLst/>
          </a:prstGeom>
          <a:solidFill>
            <a:srgbClr val="000000">
              <a:alpha val="8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3" name="Grafik 2" descr="Ein Bild, das Text, Poster, Wolke, Natur enthält.&#10;&#10;KI-generierte Inhalte können fehlerhaft sein.">
            <a:extLst>
              <a:ext uri="{FF2B5EF4-FFF2-40B4-BE49-F238E27FC236}">
                <a16:creationId xmlns:a16="http://schemas.microsoft.com/office/drawing/2014/main" id="{DFC3FC8D-2AD9-C1C5-1417-4BD86E7E7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8336" y="-17863"/>
            <a:ext cx="3447328" cy="516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313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</Words>
  <Application>Microsoft Macintosh PowerPoint</Application>
  <PresentationFormat>Bildschirmpräsentation (16:9)</PresentationFormat>
  <Paragraphs>137</Paragraphs>
  <Slides>15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>HTL Leonding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Schloss der Finsternis</dc:title>
  <dc:subject>PptxGenJS Presentation</dc:subject>
  <dc:creator>Schüler</dc:creator>
  <cp:keywords/>
  <dc:description/>
  <cp:lastModifiedBy>Langeder Felix</cp:lastModifiedBy>
  <cp:revision>9</cp:revision>
  <dcterms:created xsi:type="dcterms:W3CDTF">2026-06-12T08:14:08Z</dcterms:created>
  <dcterms:modified xsi:type="dcterms:W3CDTF">2026-06-12T20:51:56Z</dcterms:modified>
  <cp:category/>
</cp:coreProperties>
</file>