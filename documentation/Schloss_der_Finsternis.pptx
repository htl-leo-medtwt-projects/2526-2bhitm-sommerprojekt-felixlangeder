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1" r:id="rId5"/>
    <p:sldId id="262" r:id="rId6"/>
    <p:sldId id="263" r:id="rId7"/>
    <p:sldId id="272" r:id="rId8"/>
    <p:sldId id="264" r:id="rId9"/>
    <p:sldId id="265" r:id="rId10"/>
    <p:sldId id="266" r:id="rId11"/>
    <p:sldId id="271" r:id="rId12"/>
    <p:sldId id="267" r:id="rId13"/>
    <p:sldId id="269" r:id="rId14"/>
    <p:sldId id="273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818181"/>
    <a:srgbClr val="4A4A6A"/>
    <a:srgbClr val="E74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88"/>
    <p:restoredTop sz="94610"/>
  </p:normalViewPr>
  <p:slideViewPr>
    <p:cSldViewPr snapToGrid="0" snapToObjects="1">
      <p:cViewPr>
        <p:scale>
          <a:sx n="112" d="100"/>
          <a:sy n="112" d="100"/>
        </p:scale>
        <p:origin x="3112" y="1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327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7F456-22D4-121E-C048-0615B6620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4BCF8-FBC2-811B-72D6-7A2ADD4C6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4AFCC-4883-1D65-8E38-000727DE3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A3872-84BB-D13A-3F5D-00FA33F06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47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27ADF-2213-3301-7C31-EA0E9382C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27FDC9-52FD-1289-C105-D1BEB6F6E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D69C3-0DC3-3434-9768-4FC6B2617D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60C23-F4A3-7671-E09D-AD6EDE20A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15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8038F-EC87-6CF2-864B-007BD8EA3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27B90-7D9C-4D56-A9FB-CA62DA804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63EE3-E521-9449-F32A-303F59AC0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32850-6035-B859-02F2-BB1129346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61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EEA60-D068-63DB-0650-69571E919A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80B0A-B309-B986-7EE7-72EDD106B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C3EAC-4F8F-05E6-14ED-329259B26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066FF-F3C6-FA41-851A-0F8BDDD04D45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28CBB-8EC8-3BB1-C309-0CBC2DEE1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B3E44-6994-16DF-AF6B-E2E12993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51D6-BBF1-6B46-B17C-C3165AD96D8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138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haltsplatzhalter 4" descr="Ein Bild, das Himmel, Nebel, Mond, draußen enthält.&#10;&#10;KI-generierte Inhalte können fehlerhaft sein.">
            <a:extLst>
              <a:ext uri="{FF2B5EF4-FFF2-40B4-BE49-F238E27FC236}">
                <a16:creationId xmlns:a16="http://schemas.microsoft.com/office/drawing/2014/main" id="{B211DAB8-1969-266F-3ABE-C49CF16F3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022"/>
            <a:ext cx="9144000" cy="6096000"/>
          </a:xfrm>
          <a:prstGeom prst="rect">
            <a:avLst/>
          </a:prstGeom>
        </p:spPr>
      </p:pic>
      <p:pic>
        <p:nvPicPr>
          <p:cNvPr id="3" name="Grafik 2" descr="Ein Bild, das Nebel, Text, Baum enthält.&#10;&#10;KI-generierte Inhalte können fehlerhaft sein.">
            <a:extLst>
              <a:ext uri="{FF2B5EF4-FFF2-40B4-BE49-F238E27FC236}">
                <a16:creationId xmlns:a16="http://schemas.microsoft.com/office/drawing/2014/main" id="{F5D20B00-A2DF-F349-85E2-118BFE66EE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30" b="8116"/>
          <a:stretch>
            <a:fillRect/>
          </a:stretch>
        </p:blipFill>
        <p:spPr>
          <a:xfrm>
            <a:off x="-11954" y="-11008"/>
            <a:ext cx="9184807" cy="516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372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nhaltsplatzhalter 4" descr="Ein Bild, das Himmel, Nebel, Mond, draußen enthält.&#10;&#10;KI-generierte Inhalte können fehlerhaft sein.">
            <a:extLst>
              <a:ext uri="{FF2B5EF4-FFF2-40B4-BE49-F238E27FC236}">
                <a16:creationId xmlns:a16="http://schemas.microsoft.com/office/drawing/2014/main" id="{250AE923-B85E-781A-ABE4-EBF6F5284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022"/>
            <a:ext cx="9144000" cy="6096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320040" y="3123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PROJEKTIDEE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20040" y="1188720"/>
            <a:ext cx="8503920" cy="594360"/>
          </a:xfrm>
          <a:prstGeom prst="roundRect">
            <a:avLst>
              <a:gd name="adj" fmla="val 12308"/>
            </a:avLst>
          </a:prstGeom>
          <a:solidFill>
            <a:schemeClr val="tx1">
              <a:alpha val="50495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🏰  Interaktives Horror-Escape-Game im Browser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0040" y="1920240"/>
            <a:ext cx="8503920" cy="594360"/>
          </a:xfrm>
          <a:prstGeom prst="roundRect">
            <a:avLst>
              <a:gd name="adj" fmla="val 12308"/>
            </a:avLst>
          </a:prstGeom>
          <a:solidFill>
            <a:schemeClr val="tx1">
              <a:alpha val="50495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Spieler erkundet ein verlassenes Schloss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0040" y="2651760"/>
            <a:ext cx="8503920" cy="594360"/>
          </a:xfrm>
          <a:prstGeom prst="roundRect">
            <a:avLst>
              <a:gd name="adj" fmla="val 12308"/>
            </a:avLst>
          </a:prstGeom>
          <a:solidFill>
            <a:schemeClr val="tx1">
              <a:alpha val="50495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Rätsel lösen &amp; versteckte Hinweise finden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0040" y="3383280"/>
            <a:ext cx="8503920" cy="594360"/>
          </a:xfrm>
          <a:prstGeom prst="roundRect">
            <a:avLst>
              <a:gd name="adj" fmla="val 12308"/>
            </a:avLst>
          </a:prstGeom>
          <a:solidFill>
            <a:schemeClr val="tx1">
              <a:alpha val="50495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Progressive Schwierigkeit über mehrere Level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20040" y="4114800"/>
            <a:ext cx="8503920" cy="594360"/>
          </a:xfrm>
          <a:prstGeom prst="roundRect">
            <a:avLst>
              <a:gd name="adj" fmla="val 12308"/>
            </a:avLst>
          </a:prstGeom>
          <a:solidFill>
            <a:schemeClr val="tx1">
              <a:alpha val="50495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 Fokus auf Spannung und dichte Atmosphäre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nhaltsplatzhalter 4" descr="Ein Bild, das Himmel, Nebel, Mond, draußen enthält.&#10;&#10;KI-generierte Inhalte können fehlerhaft sein.">
            <a:extLst>
              <a:ext uri="{FF2B5EF4-FFF2-40B4-BE49-F238E27FC236}">
                <a16:creationId xmlns:a16="http://schemas.microsoft.com/office/drawing/2014/main" id="{EEA33D0F-8A05-EDA2-FCF0-783BD9F15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022"/>
            <a:ext cx="9144000" cy="6096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320040" y="26997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VERWENDETE TECHNOLOGIEN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594360" cy="594360"/>
          </a:xfrm>
          <a:prstGeom prst="rect">
            <a:avLst/>
          </a:prstGeom>
          <a:solidFill>
            <a:schemeClr val="tx1">
              <a:alpha val="0"/>
            </a:schemeClr>
          </a:solidFill>
        </p:spPr>
      </p:pic>
      <p:sp>
        <p:nvSpPr>
          <p:cNvPr id="9" name="Text 6"/>
          <p:cNvSpPr/>
          <p:nvPr/>
        </p:nvSpPr>
        <p:spPr>
          <a:xfrm>
            <a:off x="1234440" y="1417320"/>
            <a:ext cx="1554480" cy="457200"/>
          </a:xfrm>
          <a:prstGeom prst="rect">
            <a:avLst/>
          </a:prstGeom>
          <a:solidFill>
            <a:schemeClr val="tx1">
              <a:alpha val="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2194560"/>
            <a:ext cx="2377440" cy="457200"/>
          </a:xfrm>
          <a:prstGeom prst="rect">
            <a:avLst/>
          </a:prstGeom>
          <a:solidFill>
            <a:schemeClr val="tx1">
              <a:alpha val="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&amp; Inhalt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23444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417320"/>
            <a:ext cx="594360" cy="594360"/>
          </a:xfrm>
          <a:prstGeom prst="rect">
            <a:avLst/>
          </a:prstGeom>
          <a:solidFill>
            <a:schemeClr val="tx1">
              <a:alpha val="0"/>
            </a:schemeClr>
          </a:solidFill>
        </p:spPr>
      </p:pic>
      <p:sp>
        <p:nvSpPr>
          <p:cNvPr id="13" name="Text 9"/>
          <p:cNvSpPr/>
          <p:nvPr/>
        </p:nvSpPr>
        <p:spPr>
          <a:xfrm>
            <a:off x="4160520" y="1417320"/>
            <a:ext cx="1554480" cy="457200"/>
          </a:xfrm>
          <a:prstGeom prst="rect">
            <a:avLst/>
          </a:prstGeom>
          <a:solidFill>
            <a:schemeClr val="tx1">
              <a:alpha val="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383280" y="2194560"/>
            <a:ext cx="2377440" cy="457200"/>
          </a:xfrm>
          <a:prstGeom prst="rect">
            <a:avLst/>
          </a:prstGeom>
          <a:solidFill>
            <a:schemeClr val="tx1">
              <a:alpha val="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Animationen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72200" y="123444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417320"/>
            <a:ext cx="594360" cy="594360"/>
          </a:xfrm>
          <a:prstGeom prst="rect">
            <a:avLst/>
          </a:prstGeom>
          <a:solidFill>
            <a:schemeClr val="tx1">
              <a:alpha val="0"/>
            </a:schemeClr>
          </a:solidFill>
        </p:spPr>
      </p:pic>
      <p:sp>
        <p:nvSpPr>
          <p:cNvPr id="17" name="Text 12"/>
          <p:cNvSpPr/>
          <p:nvPr/>
        </p:nvSpPr>
        <p:spPr>
          <a:xfrm>
            <a:off x="7086600" y="1417320"/>
            <a:ext cx="1554480" cy="457200"/>
          </a:xfrm>
          <a:prstGeom prst="rect">
            <a:avLst/>
          </a:prstGeom>
          <a:solidFill>
            <a:schemeClr val="tx1">
              <a:alpha val="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309360" y="2194560"/>
            <a:ext cx="2377440" cy="457200"/>
          </a:xfrm>
          <a:prstGeom prst="rect">
            <a:avLst/>
          </a:prstGeom>
          <a:solidFill>
            <a:schemeClr val="tx1">
              <a:alpha val="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Spiellogik &amp; Interaktion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2004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154680"/>
            <a:ext cx="594360" cy="594360"/>
          </a:xfrm>
          <a:prstGeom prst="rect">
            <a:avLst/>
          </a:prstGeom>
          <a:solidFill>
            <a:schemeClr val="tx1">
              <a:alpha val="0"/>
            </a:schemeClr>
          </a:solidFill>
        </p:spPr>
      </p:pic>
      <p:sp>
        <p:nvSpPr>
          <p:cNvPr id="21" name="Text 15"/>
          <p:cNvSpPr/>
          <p:nvPr/>
        </p:nvSpPr>
        <p:spPr>
          <a:xfrm>
            <a:off x="1234440" y="3154680"/>
            <a:ext cx="1554480" cy="457200"/>
          </a:xfrm>
          <a:prstGeom prst="rect">
            <a:avLst/>
          </a:prstGeom>
          <a:solidFill>
            <a:schemeClr val="tx1">
              <a:alpha val="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457200" y="3931920"/>
            <a:ext cx="2377440" cy="457200"/>
          </a:xfrm>
          <a:prstGeom prst="rect">
            <a:avLst/>
          </a:prstGeom>
          <a:solidFill>
            <a:schemeClr val="tx1">
              <a:alpha val="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Soundeffekte &amp; Atmosphäre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4612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154680"/>
            <a:ext cx="594360" cy="594360"/>
          </a:xfrm>
          <a:prstGeom prst="rect">
            <a:avLst/>
          </a:prstGeom>
          <a:solidFill>
            <a:schemeClr val="tx1">
              <a:alpha val="0"/>
            </a:schemeClr>
          </a:solidFill>
        </p:spPr>
      </p:pic>
      <p:sp>
        <p:nvSpPr>
          <p:cNvPr id="25" name="Text 18"/>
          <p:cNvSpPr/>
          <p:nvPr/>
        </p:nvSpPr>
        <p:spPr>
          <a:xfrm>
            <a:off x="4160520" y="3154680"/>
            <a:ext cx="1554480" cy="457200"/>
          </a:xfrm>
          <a:prstGeom prst="rect">
            <a:avLst/>
          </a:prstGeom>
          <a:solidFill>
            <a:schemeClr val="tx1">
              <a:alpha val="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Storage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3383280" y="3931920"/>
            <a:ext cx="2377440" cy="457200"/>
          </a:xfrm>
          <a:prstGeom prst="rect">
            <a:avLst/>
          </a:prstGeom>
          <a:solidFill>
            <a:schemeClr val="tx1">
              <a:alpha val="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Speichern</a:t>
            </a: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Scoreboard-</a:t>
            </a:r>
            <a:r>
              <a:rPr lang="en-US" sz="1200" dirty="0" err="1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172200" y="297180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3154680"/>
            <a:ext cx="594360" cy="594360"/>
          </a:xfrm>
          <a:prstGeom prst="rect">
            <a:avLst/>
          </a:prstGeom>
          <a:solidFill>
            <a:schemeClr val="tx1">
              <a:alpha val="0"/>
            </a:schemeClr>
          </a:solidFill>
        </p:spPr>
      </p:pic>
      <p:sp>
        <p:nvSpPr>
          <p:cNvPr id="29" name="Text 21"/>
          <p:cNvSpPr/>
          <p:nvPr/>
        </p:nvSpPr>
        <p:spPr>
          <a:xfrm>
            <a:off x="7086600" y="3154680"/>
            <a:ext cx="1554480" cy="457200"/>
          </a:xfrm>
          <a:prstGeom prst="rect">
            <a:avLst/>
          </a:prstGeom>
          <a:solidFill>
            <a:schemeClr val="tx1">
              <a:alpha val="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Typed.js</a:t>
            </a:r>
            <a:endParaRPr lang="en-US" sz="1800" dirty="0"/>
          </a:p>
        </p:txBody>
      </p:sp>
      <p:sp>
        <p:nvSpPr>
          <p:cNvPr id="30" name="Text 22"/>
          <p:cNvSpPr/>
          <p:nvPr/>
        </p:nvSpPr>
        <p:spPr>
          <a:xfrm>
            <a:off x="6309360" y="3931920"/>
            <a:ext cx="2377440" cy="457200"/>
          </a:xfrm>
          <a:prstGeom prst="rect">
            <a:avLst/>
          </a:prstGeom>
          <a:solidFill>
            <a:schemeClr val="tx1">
              <a:alpha val="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JS-Library für </a:t>
            </a:r>
            <a:r>
              <a:rPr lang="en-US" sz="1200" dirty="0" err="1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Textanimationen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4" descr="Ein Bild, das Himmel, Nebel, Mond, draußen enthält.&#10;&#10;KI-generierte Inhalte können fehlerhaft sein.">
            <a:extLst>
              <a:ext uri="{FF2B5EF4-FFF2-40B4-BE49-F238E27FC236}">
                <a16:creationId xmlns:a16="http://schemas.microsoft.com/office/drawing/2014/main" id="{38E18366-938B-5EDF-47F0-53D8F901E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022"/>
            <a:ext cx="9144000" cy="6096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320040" y="320444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1: DAS ARBEITSZIMMER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14800" cy="3657600"/>
          </a:xfrm>
          <a:prstGeom prst="roundRect">
            <a:avLst>
              <a:gd name="adj" fmla="val 2000"/>
            </a:avLst>
          </a:prstGeom>
          <a:solidFill>
            <a:schemeClr val="tx1">
              <a:alpha val="49692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F0F0F0"/>
                </a:solidFill>
                <a:latin typeface="Cambria" pitchFamily="34" charset="0"/>
              </a:rPr>
              <a:t>Handlung</a:t>
            </a:r>
            <a:endParaRPr lang="en-US" sz="2800" b="1" dirty="0">
              <a:solidFill>
                <a:srgbClr val="F0F0F0"/>
              </a:solidFill>
              <a:latin typeface="Cambria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SzPct val="100000"/>
            </a:pPr>
            <a:r>
              <a:rPr lang="en-US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Spieler betritt das Schloss</a:t>
            </a:r>
            <a:endParaRPr lang="en-US" dirty="0"/>
          </a:p>
          <a:p>
            <a:pPr algn="ctr">
              <a:buSzPct val="100000"/>
            </a:pPr>
            <a:r>
              <a:rPr lang="en-US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Erkundung der ersten Räume</a:t>
            </a:r>
            <a:endParaRPr lang="en-US" dirty="0"/>
          </a:p>
          <a:p>
            <a:pPr algn="ctr">
              <a:buSzPct val="100000"/>
            </a:pPr>
            <a:r>
              <a:rPr lang="en-US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Hebelmechanismus aktivieren</a:t>
            </a:r>
            <a:endParaRPr lang="en-US" dirty="0"/>
          </a:p>
          <a:p>
            <a:pPr algn="ctr">
              <a:buSzPct val="100000"/>
            </a:pPr>
            <a:r>
              <a:rPr lang="en-US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Versteckte Tür aufdecken</a:t>
            </a:r>
            <a:endParaRPr lang="en-US" dirty="0"/>
          </a:p>
          <a:p>
            <a:pPr algn="ctr">
              <a:buSzPct val="100000"/>
            </a:pPr>
            <a:r>
              <a:rPr lang="en-US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Geheimen Ausgang finden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160520" cy="3657600"/>
          </a:xfrm>
          <a:prstGeom prst="roundRect">
            <a:avLst>
              <a:gd name="adj" fmla="val 2000"/>
            </a:avLst>
          </a:prstGeom>
          <a:solidFill>
            <a:schemeClr val="tx1">
              <a:alpha val="49692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80060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F0F0F0"/>
                </a:solidFill>
                <a:latin typeface="Cambria" pitchFamily="34" charset="0"/>
              </a:rPr>
              <a:t>Programmierkonzepte</a:t>
            </a:r>
            <a:endParaRPr lang="en-US" sz="2400" b="1" dirty="0">
              <a:solidFill>
                <a:srgbClr val="F0F0F0"/>
              </a:solidFill>
              <a:latin typeface="Cambria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00600" y="16916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SzPct val="100000"/>
            </a:pPr>
            <a:r>
              <a:rPr lang="en-US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Zustandsverwaltung (booleans)</a:t>
            </a:r>
          </a:p>
          <a:p>
            <a:pPr algn="ctr">
              <a:buSzPct val="100000"/>
            </a:pPr>
            <a:r>
              <a:rPr lang="en-US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Unsichtbare Clickboxen</a:t>
            </a:r>
          </a:p>
          <a:p>
            <a:pPr algn="ctr">
              <a:buSzPct val="100000"/>
            </a:pPr>
            <a:r>
              <a:rPr lang="en-US" dirty="0" err="1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Raumwechsel-Funktion</a:t>
            </a:r>
            <a:endParaRPr lang="en-US" dirty="0">
              <a:solidFill>
                <a:srgbClr val="DADAE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buSzPct val="100000"/>
            </a:pPr>
            <a:r>
              <a:rPr lang="en-US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 Objekte (onclick)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nhaltsplatzhalter 4" descr="Ein Bild, das Himmel, Nebel, Mond, draußen enthält.&#10;&#10;KI-generierte Inhalte können fehlerhaft sein.">
            <a:extLst>
              <a:ext uri="{FF2B5EF4-FFF2-40B4-BE49-F238E27FC236}">
                <a16:creationId xmlns:a16="http://schemas.microsoft.com/office/drawing/2014/main" id="{C558C383-3A1D-81F3-7FFD-2B2C45E0C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96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2: DIE GEMÄCHER DES GRAFEN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920240" cy="502920"/>
          </a:xfrm>
          <a:prstGeom prst="roundRect">
            <a:avLst>
              <a:gd name="adj" fmla="val 10909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Bibliothek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1920240" cy="502920"/>
          </a:xfrm>
          <a:prstGeom prst="roundRect">
            <a:avLst>
              <a:gd name="adj" fmla="val 10909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46888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Uhrzimmer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1920240" cy="502920"/>
          </a:xfrm>
          <a:prstGeom prst="roundRect">
            <a:avLst>
              <a:gd name="adj" fmla="val 10909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61772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Schlafzimmer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920240" cy="502920"/>
          </a:xfrm>
          <a:prstGeom prst="roundRect">
            <a:avLst>
              <a:gd name="adj" fmla="val 10909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76656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Geheimgang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1920240"/>
            <a:ext cx="5029200" cy="2971800"/>
          </a:xfrm>
          <a:prstGeom prst="roundRect">
            <a:avLst>
              <a:gd name="adj" fmla="val 2462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45720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Rätselablauf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Zahlen in verschiedenen Räumen suchen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Richtige Reihenfolge erkennen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Fünfstelligen</a:t>
            </a:r>
            <a:r>
              <a:rPr lang="en-US" sz="14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Code eingeben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Spannung durch: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Zeitlimit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Falsche Entscheidungen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Begegnung mit dem Grafen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77840" y="1920240"/>
            <a:ext cx="3246120" cy="2971800"/>
          </a:xfrm>
          <a:prstGeom prst="roundRect">
            <a:avLst>
              <a:gd name="adj" fmla="val 2462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715000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Codeeingabe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43471" y="2537460"/>
            <a:ext cx="319724" cy="640080"/>
          </a:xfrm>
          <a:prstGeom prst="roundRect">
            <a:avLst>
              <a:gd name="adj" fmla="val 8333"/>
            </a:avLst>
          </a:prstGeom>
          <a:solidFill>
            <a:srgbClr val="0A0A14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543471" y="2537460"/>
            <a:ext cx="319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060656" y="2537460"/>
            <a:ext cx="319724" cy="640080"/>
          </a:xfrm>
          <a:prstGeom prst="roundRect">
            <a:avLst>
              <a:gd name="adj" fmla="val 8333"/>
            </a:avLst>
          </a:prstGeom>
          <a:solidFill>
            <a:srgbClr val="0A0A14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7060656" y="2537460"/>
            <a:ext cx="319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7558390" y="2537460"/>
            <a:ext cx="319724" cy="640080"/>
          </a:xfrm>
          <a:prstGeom prst="roundRect">
            <a:avLst>
              <a:gd name="adj" fmla="val 8333"/>
            </a:avLst>
          </a:prstGeom>
          <a:solidFill>
            <a:srgbClr val="0A0A14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7558390" y="2537460"/>
            <a:ext cx="319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8056125" y="2537460"/>
            <a:ext cx="319724" cy="640080"/>
          </a:xfrm>
          <a:prstGeom prst="roundRect">
            <a:avLst>
              <a:gd name="adj" fmla="val 8333"/>
            </a:avLst>
          </a:prstGeom>
          <a:solidFill>
            <a:srgbClr val="0A0A14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8056125" y="2537460"/>
            <a:ext cx="319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4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260" y="3518012"/>
            <a:ext cx="1097280" cy="10972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69280" y="32339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ZEITLIMIT AKTIV</a:t>
            </a:r>
            <a:endParaRPr lang="en-US" sz="1400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96ABC027-117F-0E26-2262-EABAC31A2726}"/>
              </a:ext>
            </a:extLst>
          </p:cNvPr>
          <p:cNvSpPr/>
          <p:nvPr/>
        </p:nvSpPr>
        <p:spPr>
          <a:xfrm>
            <a:off x="5669280" y="4552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cs typeface="Calibri" pitchFamily="34" charset="-120"/>
              </a:rPr>
              <a:t>90 </a:t>
            </a:r>
            <a:r>
              <a:rPr lang="en-US" sz="1400" b="1" dirty="0" err="1">
                <a:solidFill>
                  <a:srgbClr val="E74C3C"/>
                </a:solidFill>
                <a:latin typeface="Calibri" pitchFamily="34" charset="0"/>
                <a:cs typeface="Calibri" pitchFamily="34" charset="-120"/>
              </a:rPr>
              <a:t>Sekunden</a:t>
            </a:r>
            <a:endParaRPr lang="en-US" sz="1400" b="1" dirty="0">
              <a:solidFill>
                <a:srgbClr val="E74C3C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" name="Shape 20">
            <a:extLst>
              <a:ext uri="{FF2B5EF4-FFF2-40B4-BE49-F238E27FC236}">
                <a16:creationId xmlns:a16="http://schemas.microsoft.com/office/drawing/2014/main" id="{56D28647-7FAC-B18F-6558-8D6FF62BDAFA}"/>
              </a:ext>
            </a:extLst>
          </p:cNvPr>
          <p:cNvSpPr/>
          <p:nvPr/>
        </p:nvSpPr>
        <p:spPr>
          <a:xfrm>
            <a:off x="6040883" y="2540705"/>
            <a:ext cx="319724" cy="640080"/>
          </a:xfrm>
          <a:prstGeom prst="roundRect">
            <a:avLst>
              <a:gd name="adj" fmla="val 8333"/>
            </a:avLst>
          </a:prstGeom>
          <a:solidFill>
            <a:srgbClr val="0A0A14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1">
            <a:extLst>
              <a:ext uri="{FF2B5EF4-FFF2-40B4-BE49-F238E27FC236}">
                <a16:creationId xmlns:a16="http://schemas.microsoft.com/office/drawing/2014/main" id="{1E51202F-5A4C-FE6E-56A9-D236AA21C9C9}"/>
              </a:ext>
            </a:extLst>
          </p:cNvPr>
          <p:cNvSpPr/>
          <p:nvPr/>
        </p:nvSpPr>
        <p:spPr>
          <a:xfrm>
            <a:off x="6040883" y="2540705"/>
            <a:ext cx="3197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3" grpId="0" animBg="1"/>
      <p:bldP spid="3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nhaltsplatzhalter 4" descr="Ein Bild, das Himmel, Nebel, Mond, draußen enthält.&#10;&#10;KI-generierte Inhalte können fehlerhaft sein.">
            <a:extLst>
              <a:ext uri="{FF2B5EF4-FFF2-40B4-BE49-F238E27FC236}">
                <a16:creationId xmlns:a16="http://schemas.microsoft.com/office/drawing/2014/main" id="{ECE8EDE2-0FE6-4D5D-1A82-E4A32DC91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022"/>
            <a:ext cx="9144000" cy="6096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320040" y="28807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3: DIE ZEITREISE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583180" y="1129284"/>
            <a:ext cx="4160520" cy="1280160"/>
          </a:xfrm>
          <a:prstGeom prst="roundRect">
            <a:avLst>
              <a:gd name="adj" fmla="val 5714"/>
            </a:avLst>
          </a:prstGeom>
          <a:solidFill>
            <a:schemeClr val="tx1">
              <a:alpha val="4976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720340" y="131216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⏰  Zeitreise-Mechanik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20340" y="172364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Boolean-Variable wechselt zwischen Gegenwart und Zukunft.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Dieselben Räume erscheinen in zwei Versionen.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4114800" cy="36576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B7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GEGENWART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108960"/>
            <a:ext cx="3566160" cy="475488"/>
          </a:xfrm>
          <a:prstGeom prst="roundRect">
            <a:avLst>
              <a:gd name="adj" fmla="val 11538"/>
            </a:avLst>
          </a:prstGeom>
          <a:solidFill>
            <a:schemeClr val="tx1">
              <a:alpha val="49760"/>
            </a:schemeClr>
          </a:solidFill>
          <a:ln w="12700">
            <a:solidFill>
              <a:srgbClr val="8B7536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Eingangshalle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703320"/>
            <a:ext cx="3566160" cy="475488"/>
          </a:xfrm>
          <a:prstGeom prst="roundRect">
            <a:avLst>
              <a:gd name="adj" fmla="val 11538"/>
            </a:avLst>
          </a:prstGeom>
          <a:solidFill>
            <a:schemeClr val="tx1">
              <a:alpha val="49760"/>
            </a:schemeClr>
          </a:solidFill>
          <a:ln w="12700">
            <a:solidFill>
              <a:srgbClr val="8B7536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94360" y="37033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297680"/>
            <a:ext cx="3566160" cy="475488"/>
          </a:xfrm>
          <a:prstGeom prst="roundRect">
            <a:avLst>
              <a:gd name="adj" fmla="val 11538"/>
            </a:avLst>
          </a:prstGeom>
          <a:solidFill>
            <a:schemeClr val="tx1">
              <a:alpha val="49760"/>
            </a:schemeClr>
          </a:solidFill>
          <a:ln w="12700">
            <a:solidFill>
              <a:srgbClr val="8B7536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Kapelle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4114800" cy="36576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ZUKUNFT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3108960"/>
            <a:ext cx="3566160" cy="475488"/>
          </a:xfrm>
          <a:prstGeom prst="roundRect">
            <a:avLst>
              <a:gd name="adj" fmla="val 11538"/>
            </a:avLst>
          </a:prstGeom>
          <a:solidFill>
            <a:schemeClr val="tx1">
              <a:alpha val="49760"/>
            </a:schemeClr>
          </a:solidFill>
          <a:ln w="12700">
            <a:solidFill>
              <a:srgbClr val="E74C3C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029200" y="310896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Uhrraum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3703320"/>
            <a:ext cx="3566160" cy="475488"/>
          </a:xfrm>
          <a:prstGeom prst="roundRect">
            <a:avLst>
              <a:gd name="adj" fmla="val 11538"/>
            </a:avLst>
          </a:prstGeom>
          <a:solidFill>
            <a:schemeClr val="tx1">
              <a:alpha val="49760"/>
            </a:schemeClr>
          </a:solidFill>
          <a:ln w="12700">
            <a:solidFill>
              <a:srgbClr val="E74C3C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029200" y="37033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Thronsaal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4297680"/>
            <a:ext cx="3566160" cy="475488"/>
          </a:xfrm>
          <a:prstGeom prst="roundRect">
            <a:avLst>
              <a:gd name="adj" fmla="val 11538"/>
            </a:avLst>
          </a:prstGeom>
          <a:solidFill>
            <a:schemeClr val="tx1">
              <a:alpha val="49760"/>
            </a:schemeClr>
          </a:solidFill>
          <a:ln w="12700">
            <a:solidFill>
              <a:srgbClr val="E74C3C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029200" y="42976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Katakomben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80560" y="3200400"/>
            <a:ext cx="182880" cy="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160520" y="3566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⟷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CD4EF-ACC1-17A7-753B-F9B826FE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nhaltsplatzhalter 4" descr="Ein Bild, das Himmel, Nebel, Mond, draußen enthält.&#10;&#10;KI-generierte Inhalte können fehlerhaft sein.">
            <a:extLst>
              <a:ext uri="{FF2B5EF4-FFF2-40B4-BE49-F238E27FC236}">
                <a16:creationId xmlns:a16="http://schemas.microsoft.com/office/drawing/2014/main" id="{EEA56D78-0686-0C39-FCBB-ACBF9C251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022"/>
            <a:ext cx="9144000" cy="60960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A048D539-79A7-1F40-B63C-A6115318797D}"/>
              </a:ext>
            </a:extLst>
          </p:cNvPr>
          <p:cNvSpPr/>
          <p:nvPr/>
        </p:nvSpPr>
        <p:spPr>
          <a:xfrm>
            <a:off x="914400" y="225171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1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Demo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083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nhaltsplatzhalter 4" descr="Ein Bild, das Himmel, Nebel, Mond, draußen enthält.&#10;&#10;KI-generierte Inhalte können fehlerhaft sein.">
            <a:extLst>
              <a:ext uri="{FF2B5EF4-FFF2-40B4-BE49-F238E27FC236}">
                <a16:creationId xmlns:a16="http://schemas.microsoft.com/office/drawing/2014/main" id="{CBAFBB85-34F3-1B4B-B477-C0EF85BB8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022"/>
            <a:ext cx="9144000" cy="6096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320040" y="3123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PROGRAMMIERLOGIK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20040" y="1267101"/>
            <a:ext cx="4114800" cy="1051560"/>
          </a:xfrm>
          <a:prstGeom prst="roundRect">
            <a:avLst>
              <a:gd name="adj" fmla="val 6957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457200" y="1358541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Raumverwaltung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1724301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Objekte beschreiben jeden Raum (Bild, Clickboxen, Zustand)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2501541"/>
            <a:ext cx="4114800" cy="1051560"/>
          </a:xfrm>
          <a:prstGeom prst="roundRect">
            <a:avLst>
              <a:gd name="adj" fmla="val 6957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457200" y="2592981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chemeClr val="bg1"/>
                </a:solidFill>
                <a:latin typeface="Cambria" pitchFamily="34" charset="0"/>
              </a:rPr>
              <a:t>Zustandsvariablen</a:t>
            </a:r>
            <a:endParaRPr lang="en-US" sz="1400" b="1" dirty="0">
              <a:solidFill>
                <a:schemeClr val="bg1"/>
              </a:solidFill>
              <a:latin typeface="Cambria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2958741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Booleans &amp; Zahlen speichern Spielfortschritt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3735981"/>
            <a:ext cx="4114800" cy="1051560"/>
          </a:xfrm>
          <a:prstGeom prst="roundRect">
            <a:avLst>
              <a:gd name="adj" fmla="val 6957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457200" y="3827421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bg1"/>
                </a:solidFill>
                <a:latin typeface="Cambria" pitchFamily="34" charset="0"/>
              </a:rPr>
              <a:t>Dynamische</a:t>
            </a:r>
            <a:r>
              <a:rPr lang="en-US" sz="1400" b="1" dirty="0">
                <a:solidFill>
                  <a:schemeClr val="bg1"/>
                </a:solidFill>
                <a:latin typeface="Cambria" pitchFamily="34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Cambria" pitchFamily="34" charset="0"/>
              </a:rPr>
              <a:t>Hintergrundbilder</a:t>
            </a:r>
            <a:endParaRPr lang="en-US" sz="1400" b="1" dirty="0">
              <a:solidFill>
                <a:schemeClr val="bg1"/>
              </a:solidFill>
              <a:latin typeface="Cambria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4193181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Raum-ID → CSS background-image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267101"/>
            <a:ext cx="4160520" cy="1051560"/>
          </a:xfrm>
          <a:prstGeom prst="roundRect">
            <a:avLst>
              <a:gd name="adj" fmla="val 6957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4800600" y="1358541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chemeClr val="bg1"/>
                </a:solidFill>
                <a:latin typeface="Cambria" pitchFamily="34" charset="0"/>
              </a:rPr>
              <a:t>Clickboxen</a:t>
            </a:r>
            <a:endParaRPr lang="en-US" sz="1400" b="1" dirty="0">
              <a:solidFill>
                <a:schemeClr val="bg1"/>
              </a:solidFill>
              <a:latin typeface="Cambria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800600" y="1724301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Absolute-positionierte &lt;div&gt; über dem Raumbild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3440" y="2501541"/>
            <a:ext cx="4160520" cy="1051560"/>
          </a:xfrm>
          <a:prstGeom prst="roundRect">
            <a:avLst>
              <a:gd name="adj" fmla="val 6957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4800600" y="2592981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400" b="1" dirty="0" err="1">
                <a:solidFill>
                  <a:schemeClr val="bg1"/>
                </a:solidFill>
                <a:latin typeface="Cambria" pitchFamily="34" charset="0"/>
              </a:rPr>
              <a:t>Codeprüfungen</a:t>
            </a:r>
            <a:endParaRPr lang="en-US" sz="1400" b="1" dirty="0">
              <a:solidFill>
                <a:schemeClr val="bg1"/>
              </a:solidFill>
              <a:latin typeface="Cambria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800600" y="2958741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Input-Wert wird mit Lösung verglichen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63440" y="3735981"/>
            <a:ext cx="4160520" cy="1051560"/>
          </a:xfrm>
          <a:prstGeom prst="roundRect">
            <a:avLst>
              <a:gd name="adj" fmla="val 6957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4800600" y="3827421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chemeClr val="bg1"/>
                </a:solidFill>
                <a:latin typeface="Cambria" pitchFamily="34" charset="0"/>
              </a:rPr>
              <a:t>Zeitreise</a:t>
            </a:r>
            <a:r>
              <a:rPr lang="en-US" sz="1400" b="1" dirty="0">
                <a:solidFill>
                  <a:schemeClr val="bg1"/>
                </a:solidFill>
                <a:latin typeface="Cambria" pitchFamily="34" charset="0"/>
              </a:rPr>
              <a:t>-System</a:t>
            </a:r>
          </a:p>
        </p:txBody>
      </p:sp>
      <p:sp>
        <p:nvSpPr>
          <p:cNvPr id="25" name="Text 22"/>
          <p:cNvSpPr/>
          <p:nvPr/>
        </p:nvSpPr>
        <p:spPr>
          <a:xfrm>
            <a:off x="4800600" y="4193181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isPast schaltet alle Räume um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nhaltsplatzhalter 4" descr="Ein Bild, das Himmel, Nebel, Mond, draußen enthält.&#10;&#10;KI-generierte Inhalte können fehlerhaft sein.">
            <a:extLst>
              <a:ext uri="{FF2B5EF4-FFF2-40B4-BE49-F238E27FC236}">
                <a16:creationId xmlns:a16="http://schemas.microsoft.com/office/drawing/2014/main" id="{EB242C2C-DE02-51AE-E5E8-C077B8031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022"/>
            <a:ext cx="9144000" cy="6096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320040" y="32853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HERAUSFORDERUNGEN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20040" y="1188720"/>
            <a:ext cx="4114800" cy="1005840"/>
          </a:xfrm>
          <a:prstGeom prst="roundRect">
            <a:avLst>
              <a:gd name="adj" fmla="val 7273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457200" y="1188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Verwaltung vieler Räume &amp; Zustände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114800" cy="1005840"/>
          </a:xfrm>
          <a:prstGeom prst="roundRect">
            <a:avLst>
              <a:gd name="adj" fmla="val 7273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4892040" y="1188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Übersichtliche Programmstruktur halten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20040" y="2377440"/>
            <a:ext cx="4114800" cy="1005840"/>
          </a:xfrm>
          <a:prstGeom prst="roundRect">
            <a:avLst>
              <a:gd name="adj" fmla="val 7273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457200" y="2377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Logische &amp; lösbare Rätsel entwickeln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754880" y="2377440"/>
            <a:ext cx="4114800" cy="1005840"/>
          </a:xfrm>
          <a:prstGeom prst="roundRect">
            <a:avLst>
              <a:gd name="adj" fmla="val 7273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4892040" y="2377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Debugging komplexer Spielzustände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20040" y="3566160"/>
            <a:ext cx="4114800" cy="1005840"/>
          </a:xfrm>
          <a:prstGeom prst="roundRect">
            <a:avLst>
              <a:gd name="adj" fmla="val 7273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457200" y="3566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Synchronisation von Bildern &amp; Logik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754880" y="3566160"/>
            <a:ext cx="4114800" cy="1005840"/>
          </a:xfrm>
          <a:prstGeom prst="roundRect">
            <a:avLst>
              <a:gd name="adj" fmla="val 7273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4892040" y="3566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Spannende Spielmechaniken umsetzen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nhaltsplatzhalter 4" descr="Ein Bild, das Himmel, Nebel, Mond, draußen enthält.&#10;&#10;KI-generierte Inhalte können fehlerhaft sein.">
            <a:extLst>
              <a:ext uri="{FF2B5EF4-FFF2-40B4-BE49-F238E27FC236}">
                <a16:creationId xmlns:a16="http://schemas.microsoft.com/office/drawing/2014/main" id="{1EDB7C0A-41E0-8351-26E0-0B0EF640F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022"/>
            <a:ext cx="9144000" cy="6096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320040" y="27341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BESONDERE FEATURES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3716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Jumpscares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14600" y="118872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137160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1460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Zeitreise-System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09160" y="118872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37160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Unsichtbare Clickboxen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903720" y="118872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137160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Soundeffekte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20040" y="301752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3200400"/>
            <a:ext cx="640080" cy="6400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20040" y="3931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als Gegner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2514600" y="301752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4680" y="3200400"/>
            <a:ext cx="640080" cy="6400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514600" y="3931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Level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709160" y="301752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9240" y="3200400"/>
            <a:ext cx="640080" cy="6400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709160" y="3931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Dynamische Hinweise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6903720" y="301752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0" y="3200400"/>
            <a:ext cx="640080" cy="6400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903720" y="3931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Verschiedene Endsequenzen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10839-026C-B833-747C-3F7842638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nhaltsplatzhalter 4" descr="Ein Bild, das Himmel, Nebel, Mond, draußen enthält.&#10;&#10;KI-generierte Inhalte können fehlerhaft sein.">
            <a:extLst>
              <a:ext uri="{FF2B5EF4-FFF2-40B4-BE49-F238E27FC236}">
                <a16:creationId xmlns:a16="http://schemas.microsoft.com/office/drawing/2014/main" id="{8C410AC1-425D-A4DA-EF08-99A094474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022"/>
            <a:ext cx="9144000" cy="60960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A4ED386D-8093-9E58-4696-3AE5AEE9A701}"/>
              </a:ext>
            </a:extLst>
          </p:cNvPr>
          <p:cNvSpPr/>
          <p:nvPr/>
        </p:nvSpPr>
        <p:spPr>
          <a:xfrm>
            <a:off x="320040" y="327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 err="1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Interessante</a:t>
            </a:r>
            <a:r>
              <a:rPr lang="en-US" sz="3000" b="1" kern="0" spc="200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Code-</a:t>
            </a:r>
            <a:r>
              <a:rPr lang="en-US" sz="3000" b="1" kern="0" spc="200" dirty="0" err="1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</a:t>
            </a:r>
            <a:endParaRPr lang="en-US" sz="3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999C27D-CACE-D664-316C-D00AC65EE922}"/>
              </a:ext>
            </a:extLst>
          </p:cNvPr>
          <p:cNvSpPr/>
          <p:nvPr/>
        </p:nvSpPr>
        <p:spPr>
          <a:xfrm>
            <a:off x="4720042" y="2011680"/>
            <a:ext cx="4286807" cy="1718348"/>
          </a:xfrm>
          <a:prstGeom prst="roundRect">
            <a:avLst>
              <a:gd name="adj" fmla="val 4444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13011BA-85C1-22BF-B79F-19F0BF710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345" y="2103120"/>
            <a:ext cx="4140200" cy="1511300"/>
          </a:xfrm>
          <a:prstGeom prst="rect">
            <a:avLst/>
          </a:prstGeom>
        </p:spPr>
      </p:pic>
      <p:sp>
        <p:nvSpPr>
          <p:cNvPr id="3" name="Shape 5">
            <a:extLst>
              <a:ext uri="{FF2B5EF4-FFF2-40B4-BE49-F238E27FC236}">
                <a16:creationId xmlns:a16="http://schemas.microsoft.com/office/drawing/2014/main" id="{505101EF-1D4C-7945-B7D9-9DB05FF5DCFD}"/>
              </a:ext>
            </a:extLst>
          </p:cNvPr>
          <p:cNvSpPr/>
          <p:nvPr/>
        </p:nvSpPr>
        <p:spPr>
          <a:xfrm>
            <a:off x="174290" y="1430447"/>
            <a:ext cx="4371463" cy="2917135"/>
          </a:xfrm>
          <a:prstGeom prst="roundRect">
            <a:avLst>
              <a:gd name="adj" fmla="val 4444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640E845-1C0A-2A2D-5ADC-19C2D32AFE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620" y="1510564"/>
            <a:ext cx="4196475" cy="274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167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nhaltsplatzhalter 4" descr="Ein Bild, das Himmel, Nebel, Mond, draußen enthält.&#10;&#10;KI-generierte Inhalte können fehlerhaft sein.">
            <a:extLst>
              <a:ext uri="{FF2B5EF4-FFF2-40B4-BE49-F238E27FC236}">
                <a16:creationId xmlns:a16="http://schemas.microsoft.com/office/drawing/2014/main" id="{4F88BAD1-D6B8-5A31-39EA-512780984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022"/>
            <a:ext cx="9144000" cy="6096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320040" y="3042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ICH GELERNT HABE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20040" y="1480545"/>
            <a:ext cx="4160520" cy="777240"/>
          </a:xfrm>
          <a:prstGeom prst="roundRect">
            <a:avLst>
              <a:gd name="adj" fmla="val 7059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429768" y="1635993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429768" y="163599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1480545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vertieft – Funktionen, Objekte, Arrays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" y="2440665"/>
            <a:ext cx="4160520" cy="777240"/>
          </a:xfrm>
          <a:prstGeom prst="roundRect">
            <a:avLst>
              <a:gd name="adj" fmla="val 7059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429768" y="2596113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429768" y="259611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" y="2440665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DOM-Manipulation &amp; dynamisches Rendering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0040" y="3400785"/>
            <a:ext cx="4160520" cy="777240"/>
          </a:xfrm>
          <a:prstGeom prst="roundRect">
            <a:avLst>
              <a:gd name="adj" fmla="val 7059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429768" y="3556233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429768" y="35562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" y="3400785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Zustandsmaschinen für Spiellogik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754882" y="1473465"/>
            <a:ext cx="4160520" cy="777240"/>
          </a:xfrm>
          <a:prstGeom prst="roundRect">
            <a:avLst>
              <a:gd name="adj" fmla="val 7059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8"/>
          <p:cNvSpPr/>
          <p:nvPr/>
        </p:nvSpPr>
        <p:spPr>
          <a:xfrm>
            <a:off x="4864610" y="1635993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4864610" y="163599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40682" y="1480545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Event-Handling &amp; Benutzerinteraktion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54882" y="2440665"/>
            <a:ext cx="4160520" cy="777240"/>
          </a:xfrm>
          <a:prstGeom prst="roundRect">
            <a:avLst>
              <a:gd name="adj" fmla="val 7059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2"/>
          <p:cNvSpPr/>
          <p:nvPr/>
        </p:nvSpPr>
        <p:spPr>
          <a:xfrm>
            <a:off x="4864610" y="2596113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3"/>
          <p:cNvSpPr/>
          <p:nvPr/>
        </p:nvSpPr>
        <p:spPr>
          <a:xfrm>
            <a:off x="4864610" y="259611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40682" y="2440665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Projektplanung &amp; Strukturierung größerer Programme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754882" y="3400785"/>
            <a:ext cx="4160520" cy="777240"/>
          </a:xfrm>
          <a:prstGeom prst="roundRect">
            <a:avLst>
              <a:gd name="adj" fmla="val 7059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6"/>
          <p:cNvSpPr/>
          <p:nvPr/>
        </p:nvSpPr>
        <p:spPr>
          <a:xfrm>
            <a:off x="4864610" y="3556233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7"/>
          <p:cNvSpPr/>
          <p:nvPr/>
        </p:nvSpPr>
        <p:spPr>
          <a:xfrm>
            <a:off x="4864610" y="35562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440682" y="3400785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Systematisches Debugging &amp; Fehlerfindung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2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2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2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2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300" decel="500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nhaltsplatzhalter 4" descr="Ein Bild, das Himmel, Nebel, Mond, draußen enthält.&#10;&#10;KI-generierte Inhalte können fehlerhaft sein.">
            <a:extLst>
              <a:ext uri="{FF2B5EF4-FFF2-40B4-BE49-F238E27FC236}">
                <a16:creationId xmlns:a16="http://schemas.microsoft.com/office/drawing/2014/main" id="{307D5EED-EFFD-84CA-0D67-24F3FBF47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022"/>
            <a:ext cx="9144000" cy="6096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91440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1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FAZIT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7863840" cy="731520"/>
          </a:xfrm>
          <a:prstGeom prst="roundRect">
            <a:avLst>
              <a:gd name="adj" fmla="val 10000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Erfolgreiche Entwicklung eines eigenen Horror-Escape-Games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39112"/>
            <a:ext cx="7863840" cy="731520"/>
          </a:xfrm>
          <a:prstGeom prst="roundRect">
            <a:avLst>
              <a:gd name="adj" fmla="val 10000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822960" y="203911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Verbindung von Kreativität und Programmierung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935224"/>
            <a:ext cx="7863840" cy="731520"/>
          </a:xfrm>
          <a:prstGeom prst="roundRect">
            <a:avLst>
              <a:gd name="adj" fmla="val 10000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822960" y="2935224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Praktische Anwendung von HTML, CSS &amp; JavaScript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31336"/>
            <a:ext cx="7863840" cy="731520"/>
          </a:xfrm>
          <a:prstGeom prst="roundRect">
            <a:avLst>
              <a:gd name="adj" fmla="val 10000"/>
            </a:avLst>
          </a:prstGeom>
          <a:solidFill>
            <a:schemeClr val="tx1">
              <a:alpha val="50000"/>
            </a:schemeClr>
          </a:solidFill>
          <a:ln w="6350">
            <a:solidFill>
              <a:srgbClr val="4A4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22960" y="3831336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Solide Grundlage für </a:t>
            </a:r>
            <a:r>
              <a:rPr lang="en-US" sz="1600" dirty="0" err="1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zukünftige</a:t>
            </a:r>
            <a:r>
              <a:rPr lang="en-US" sz="1600" dirty="0">
                <a:solidFill>
                  <a:srgbClr val="DAD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Projekte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08313-45BE-9AB1-0BBB-A1FBEE87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nhaltsplatzhalter 4" descr="Ein Bild, das Himmel, Nebel, Mond, draußen enthält.&#10;&#10;KI-generierte Inhalte können fehlerhaft sein.">
            <a:extLst>
              <a:ext uri="{FF2B5EF4-FFF2-40B4-BE49-F238E27FC236}">
                <a16:creationId xmlns:a16="http://schemas.microsoft.com/office/drawing/2014/main" id="{B77F3BEB-4BB6-147A-FFEA-1314FE887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53" y="-50287"/>
            <a:ext cx="9153053" cy="60960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00ECF3DF-0190-4B22-D64E-6C29EA131303}"/>
              </a:ext>
            </a:extLst>
          </p:cNvPr>
          <p:cNvSpPr/>
          <p:nvPr/>
        </p:nvSpPr>
        <p:spPr>
          <a:xfrm>
            <a:off x="914400" y="-654453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1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Demo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EBE21F2-ACDF-42E9-2D17-97D56C3BE259}"/>
              </a:ext>
            </a:extLst>
          </p:cNvPr>
          <p:cNvSpPr/>
          <p:nvPr/>
        </p:nvSpPr>
        <p:spPr>
          <a:xfrm>
            <a:off x="-212757" y="-192350"/>
            <a:ext cx="9560459" cy="6380126"/>
          </a:xfrm>
          <a:prstGeom prst="rect">
            <a:avLst/>
          </a:prstGeom>
          <a:solidFill>
            <a:srgbClr val="000000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3" name="Grafik 2" descr="Ein Bild, das Text, Poster, Wolke, Natur enthält.&#10;&#10;KI-generierte Inhalte können fehlerhaft sein.">
            <a:extLst>
              <a:ext uri="{FF2B5EF4-FFF2-40B4-BE49-F238E27FC236}">
                <a16:creationId xmlns:a16="http://schemas.microsoft.com/office/drawing/2014/main" id="{DFC3FC8D-2AD9-C1C5-1417-4BD86E7E7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336" y="-17863"/>
            <a:ext cx="3447328" cy="516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31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</Words>
  <Application>Microsoft Macintosh PowerPoint</Application>
  <PresentationFormat>Bildschirmpräsentation (16:9)</PresentationFormat>
  <Paragraphs>128</Paragraphs>
  <Slides>14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>HTL Leonding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Schloss der Finsternis</dc:title>
  <dc:subject>PptxGenJS Presentation</dc:subject>
  <dc:creator>Schüler</dc:creator>
  <cp:keywords/>
  <dc:description/>
  <cp:lastModifiedBy>Langeder Felix</cp:lastModifiedBy>
  <cp:revision>14</cp:revision>
  <dcterms:created xsi:type="dcterms:W3CDTF">2026-06-12T08:14:08Z</dcterms:created>
  <dcterms:modified xsi:type="dcterms:W3CDTF">2026-06-25T08:18:35Z</dcterms:modified>
  <cp:category/>
</cp:coreProperties>
</file>